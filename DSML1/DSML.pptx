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solidFill>
          <a:srgbClr val="003462"/>
        </a:solidFill>
      </p:bgPr>
    </p:bg>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47162"/>
            <a:ext cx="21971003" cy="636979"/>
          </a:xfrm>
          <a:prstGeom prst="rect">
            <a:avLst/>
          </a:prstGeom>
        </p:spPr>
        <p:txBody>
          <a:bodyPr lIns="45719" tIns="45719" rIns="45719" bIns="45719"/>
          <a:lstStyle>
            <a:lvl1pPr marL="0" indent="0" defTabSz="825500">
              <a:lnSpc>
                <a:spcPct val="100000"/>
              </a:lnSpc>
              <a:spcBef>
                <a:spcPts val="0"/>
              </a:spcBef>
              <a:buSzTx/>
              <a:buNone/>
              <a:defRPr b="1" sz="3600">
                <a:solidFill>
                  <a:srgbClr val="FFFFFF"/>
                </a:solidFill>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solidFill>
                  <a:srgbClr val="FFFFFF"/>
                </a:solidFill>
              </a:defRPr>
            </a:lvl1pPr>
          </a:lstStyle>
          <a:p>
            <a:pPr/>
            <a:r>
              <a:t>Presentation Title</a:t>
            </a:r>
          </a:p>
        </p:txBody>
      </p:sp>
      <p:sp>
        <p:nvSpPr>
          <p:cNvPr id="13" name="Body Level One…"/>
          <p:cNvSpPr txBox="1"/>
          <p:nvPr>
            <p:ph type="body" sz="quarter" idx="1" hasCustomPrompt="1"/>
          </p:nvPr>
        </p:nvSpPr>
        <p:spPr>
          <a:xfrm>
            <a:off x="1201342" y="7210490"/>
            <a:ext cx="21971001" cy="1905001"/>
          </a:xfrm>
          <a:prstGeom prst="rect">
            <a:avLst/>
          </a:prstGeom>
        </p:spPr>
        <p:txBody>
          <a:bodyPr/>
          <a:lstStyle>
            <a:lvl1pPr marL="0" indent="0" defTabSz="825500">
              <a:lnSpc>
                <a:spcPct val="100000"/>
              </a:lnSpc>
              <a:spcBef>
                <a:spcPts val="0"/>
              </a:spcBef>
              <a:buSzTx/>
              <a:buNone/>
              <a:defRPr b="1" sz="5500">
                <a:solidFill>
                  <a:schemeClr val="accent1"/>
                </a:solidFill>
              </a:defRPr>
            </a:lvl1pPr>
            <a:lvl2pPr marL="0" indent="457200" defTabSz="825500">
              <a:lnSpc>
                <a:spcPct val="100000"/>
              </a:lnSpc>
              <a:spcBef>
                <a:spcPts val="0"/>
              </a:spcBef>
              <a:buSzTx/>
              <a:buNone/>
              <a:defRPr b="1" sz="5500">
                <a:solidFill>
                  <a:schemeClr val="accent1"/>
                </a:solidFill>
              </a:defRPr>
            </a:lvl2pPr>
            <a:lvl3pPr marL="0" indent="914400" defTabSz="825500">
              <a:lnSpc>
                <a:spcPct val="100000"/>
              </a:lnSpc>
              <a:spcBef>
                <a:spcPts val="0"/>
              </a:spcBef>
              <a:buSzTx/>
              <a:buNone/>
              <a:defRPr b="1" sz="5500">
                <a:solidFill>
                  <a:schemeClr val="accent1"/>
                </a:solidFill>
              </a:defRPr>
            </a:lvl3pPr>
            <a:lvl4pPr marL="0" indent="1371600" defTabSz="825500">
              <a:lnSpc>
                <a:spcPct val="100000"/>
              </a:lnSpc>
              <a:spcBef>
                <a:spcPts val="0"/>
              </a:spcBef>
              <a:buSzTx/>
              <a:buNone/>
              <a:defRPr b="1" sz="5500">
                <a:solidFill>
                  <a:schemeClr val="accent1"/>
                </a:solidFill>
              </a:defRPr>
            </a:lvl4pPr>
            <a:lvl5pPr marL="0" indent="1828800" defTabSz="825500">
              <a:lnSpc>
                <a:spcPct val="100000"/>
              </a:lnSpc>
              <a:spcBef>
                <a:spcPts val="0"/>
              </a:spcBef>
              <a:buSzTx/>
              <a:buNone/>
              <a:defRPr b="1" sz="5500">
                <a:solidFill>
                  <a:schemeClr val="accent1"/>
                </a:solidFill>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Close-up of the top of a hot-air balloon viewed from above"/>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solidFill>
                  <a:srgbClr val="FFFFFF"/>
                </a:solidFill>
              </a:defRPr>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solidFill>
                  <a:srgbClr val="FFFFFF"/>
                </a:solidFill>
              </a:defRPr>
            </a:lvl1pPr>
            <a:lvl2pPr marL="0" indent="457200" defTabSz="825500">
              <a:lnSpc>
                <a:spcPct val="100000"/>
              </a:lnSpc>
              <a:spcBef>
                <a:spcPts val="0"/>
              </a:spcBef>
              <a:buSzTx/>
              <a:buNone/>
              <a:defRPr b="1" sz="5500">
                <a:solidFill>
                  <a:srgbClr val="FFFFFF"/>
                </a:solidFill>
              </a:defRPr>
            </a:lvl2pPr>
            <a:lvl3pPr marL="0" indent="914400" defTabSz="825500">
              <a:lnSpc>
                <a:spcPct val="100000"/>
              </a:lnSpc>
              <a:spcBef>
                <a:spcPts val="0"/>
              </a:spcBef>
              <a:buSzTx/>
              <a:buNone/>
              <a:defRPr b="1" sz="5500">
                <a:solidFill>
                  <a:srgbClr val="FFFFFF"/>
                </a:solidFill>
              </a:defRPr>
            </a:lvl3pPr>
            <a:lvl4pPr marL="0" indent="1371600" defTabSz="825500">
              <a:lnSpc>
                <a:spcPct val="100000"/>
              </a:lnSpc>
              <a:spcBef>
                <a:spcPts val="0"/>
              </a:spcBef>
              <a:buSzTx/>
              <a:buNone/>
              <a:defRPr b="1" sz="5500">
                <a:solidFill>
                  <a:srgbClr val="FFFFFF"/>
                </a:solidFill>
              </a:defRPr>
            </a:lvl4pPr>
            <a:lvl5pPr marL="0" indent="1828800" defTabSz="825500">
              <a:lnSpc>
                <a:spcPct val="100000"/>
              </a:lnSpc>
              <a:spcBef>
                <a:spcPts val="0"/>
              </a:spcBef>
              <a:buSzTx/>
              <a:buNone/>
              <a:defRPr b="1" sz="5500">
                <a:solidFill>
                  <a:srgbClr val="FFFFFF"/>
                </a:solidFill>
              </a:defRPr>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Close-up of a hot-air balloon viewed from below"/>
          <p:cNvSpPr/>
          <p:nvPr>
            <p:ph type="pic" idx="21"/>
          </p:nvPr>
        </p:nvSpPr>
        <p:spPr>
          <a:xfrm>
            <a:off x="9226574" y="1270000"/>
            <a:ext cx="16840152" cy="11184435"/>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247900"/>
            <a:ext cx="9779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Hot-air balloons viewed from below against a blue sky"/>
          <p:cNvSpPr/>
          <p:nvPr>
            <p:ph type="pic" idx="22"/>
          </p:nvPr>
        </p:nvSpPr>
        <p:spPr>
          <a:xfrm>
            <a:off x="8432800" y="1263848"/>
            <a:ext cx="16850011" cy="11188205"/>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247900"/>
            <a:ext cx="9779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247900"/>
            <a:ext cx="9779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solidFill>
          <a:srgbClr val="003462"/>
        </a:solidFill>
      </p:bgPr>
    </p:bg>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solidFill>
                  <a:srgbClr val="FFFFFF"/>
                </a:solidFill>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952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952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solidFill>
                  <a:schemeClr val="accent1">
                    <a:hueOff val="114395"/>
                    <a:lumOff val="-24975"/>
                  </a:schemeClr>
                </a:solidFill>
              </a:defRPr>
            </a:lvl1pPr>
            <a:lvl2pPr marL="0" indent="457200" algn="ctr">
              <a:lnSpc>
                <a:spcPct val="80000"/>
              </a:lnSpc>
              <a:spcBef>
                <a:spcPts val="0"/>
              </a:spcBef>
              <a:buSzTx/>
              <a:buNone/>
              <a:defRPr b="1" spc="-250" sz="25000">
                <a:solidFill>
                  <a:schemeClr val="accent1">
                    <a:hueOff val="114395"/>
                    <a:lumOff val="-24975"/>
                  </a:schemeClr>
                </a:solidFill>
              </a:defRPr>
            </a:lvl2pPr>
            <a:lvl3pPr marL="0" indent="914400" algn="ctr">
              <a:lnSpc>
                <a:spcPct val="80000"/>
              </a:lnSpc>
              <a:spcBef>
                <a:spcPts val="0"/>
              </a:spcBef>
              <a:buSzTx/>
              <a:buNone/>
              <a:defRPr b="1" spc="-250" sz="25000">
                <a:solidFill>
                  <a:schemeClr val="accent1">
                    <a:hueOff val="114395"/>
                    <a:lumOff val="-24975"/>
                  </a:schemeClr>
                </a:solidFill>
              </a:defRPr>
            </a:lvl3pPr>
            <a:lvl4pPr marL="0" indent="1371600" algn="ctr">
              <a:lnSpc>
                <a:spcPct val="80000"/>
              </a:lnSpc>
              <a:spcBef>
                <a:spcPts val="0"/>
              </a:spcBef>
              <a:buSzTx/>
              <a:buNone/>
              <a:defRPr b="1" spc="-250" sz="25000">
                <a:solidFill>
                  <a:schemeClr val="accent1">
                    <a:hueOff val="114395"/>
                    <a:lumOff val="-24975"/>
                  </a:schemeClr>
                </a:solidFill>
              </a:defRPr>
            </a:lvl4pPr>
            <a:lvl5pPr marL="0" indent="1828800" algn="ctr">
              <a:lnSpc>
                <a:spcPct val="80000"/>
              </a:lnSpc>
              <a:spcBef>
                <a:spcPts val="0"/>
              </a:spcBef>
              <a:buSzTx/>
              <a:buNone/>
              <a:defRPr b="1" spc="-250" sz="25000">
                <a:solidFill>
                  <a:schemeClr val="accent1">
                    <a:hueOff val="114395"/>
                    <a:lumOff val="-24975"/>
                  </a:schemeClr>
                </a:solidFill>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1pPr>
            <a:lvl2pPr marL="638923" indent="-127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2pPr>
            <a:lvl3pPr marL="638923" indent="4445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3pPr>
            <a:lvl4pPr marL="638923" indent="9017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4pPr>
            <a:lvl5pPr marL="638923" indent="13589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Hot-air balloons viewed from below against a blue sky"/>
          <p:cNvSpPr/>
          <p:nvPr>
            <p:ph type="pic" sz="quarter" idx="21"/>
          </p:nvPr>
        </p:nvSpPr>
        <p:spPr>
          <a:xfrm>
            <a:off x="15436504" y="1270000"/>
            <a:ext cx="8167167" cy="5422900"/>
          </a:xfrm>
          <a:prstGeom prst="rect">
            <a:avLst/>
          </a:prstGeom>
        </p:spPr>
        <p:txBody>
          <a:bodyPr lIns="91439" tIns="45719" rIns="91439" bIns="45719">
            <a:noAutofit/>
          </a:bodyPr>
          <a:lstStyle/>
          <a:p>
            <a:pPr/>
          </a:p>
        </p:txBody>
      </p:sp>
      <p:sp>
        <p:nvSpPr>
          <p:cNvPr id="145" name="Close-up of the top of a hot-air balloon viewed from above"/>
          <p:cNvSpPr/>
          <p:nvPr>
            <p:ph type="pic" sz="quarter" idx="22"/>
          </p:nvPr>
        </p:nvSpPr>
        <p:spPr>
          <a:xfrm>
            <a:off x="15461772" y="7085972"/>
            <a:ext cx="8148414" cy="5432276"/>
          </a:xfrm>
          <a:prstGeom prst="rect">
            <a:avLst/>
          </a:prstGeom>
        </p:spPr>
        <p:txBody>
          <a:bodyPr lIns="91439" tIns="45719" rIns="91439" bIns="45719">
            <a:noAutofit/>
          </a:bodyPr>
          <a:lstStyle/>
          <a:p>
            <a:pPr/>
          </a:p>
        </p:txBody>
      </p:sp>
      <p:sp>
        <p:nvSpPr>
          <p:cNvPr id="146" name="Hot-air balloons viewed from below against a blue sky"/>
          <p:cNvSpPr/>
          <p:nvPr>
            <p:ph type="pic" idx="23"/>
          </p:nvPr>
        </p:nvSpPr>
        <p:spPr>
          <a:xfrm>
            <a:off x="-124635" y="1270000"/>
            <a:ext cx="16859219" cy="11239479"/>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Hot-air balloons viewed from below against a blue sky"/>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tif"/></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tif"/></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tif"/><Relationship Id="rId3" Type="http://schemas.openxmlformats.org/officeDocument/2006/relationships/image" Target="../media/image4.tif"/></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1016/j.apmrv.2025.100370" TargetMode="External"/><Relationship Id="rId3" Type="http://schemas.openxmlformats.org/officeDocument/2006/relationships/hyperlink" Target="https://doi.org/10.1016/j.sasc.2024.200132" TargetMode="External"/><Relationship Id="rId4" Type="http://schemas.openxmlformats.org/officeDocument/2006/relationships/hyperlink" Target="https://doi.org/10.1016/j.jrras.2025.101481" TargetMode="External"/><Relationship Id="rId5" Type="http://schemas.openxmlformats.org/officeDocument/2006/relationships/hyperlink" Target="https://doi.org/10.1109/icci61671.2024.10485171" TargetMode="External"/><Relationship Id="rId6" Type="http://schemas.openxmlformats.org/officeDocument/2006/relationships/hyperlink" Target="https://doi.org/10.1016/j.ribaf.2025.102768" TargetMode="Externa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3390/economies12030063" TargetMode="External"/><Relationship Id="rId3" Type="http://schemas.openxmlformats.org/officeDocument/2006/relationships/hyperlink" Target="https://doi.org/10.1080/13504851.2020.1869158" TargetMode="External"/><Relationship Id="rId4" Type="http://schemas.openxmlformats.org/officeDocument/2006/relationships/hyperlink" Target="https://doi.org/10.1109/icaiic64266.2025.10920689" TargetMode="Externa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3390/pr13030832" TargetMode="External"/><Relationship Id="rId3" Type="http://schemas.openxmlformats.org/officeDocument/2006/relationships/hyperlink" Target="https://doi.org/10.1016/j.jsasus.2025.05.003"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Predictive analysis on the impact of robot adoption in the manufacturing sector"/>
          <p:cNvSpPr txBox="1"/>
          <p:nvPr>
            <p:ph type="ctrTitle"/>
          </p:nvPr>
        </p:nvSpPr>
        <p:spPr>
          <a:prstGeom prst="rect">
            <a:avLst/>
          </a:prstGeom>
        </p:spPr>
        <p:txBody>
          <a:bodyPr/>
          <a:lstStyle>
            <a:lvl1pPr defTabSz="2365188">
              <a:defRPr spc="-225" sz="11252"/>
            </a:lvl1pPr>
          </a:lstStyle>
          <a:p>
            <a:pPr/>
            <a:r>
              <a:t>Predictive analysis on the impact of robot adoption in the manufacturing sector</a:t>
            </a:r>
          </a:p>
        </p:txBody>
      </p:sp>
      <p:sp>
        <p:nvSpPr>
          <p:cNvPr id="172" name="Adam Abdellaoui, Lead Developer…"/>
          <p:cNvSpPr txBox="1"/>
          <p:nvPr>
            <p:ph type="subTitle" sz="quarter" idx="1"/>
          </p:nvPr>
        </p:nvSpPr>
        <p:spPr>
          <a:prstGeom prst="rect">
            <a:avLst/>
          </a:prstGeom>
        </p:spPr>
        <p:txBody>
          <a:bodyPr/>
          <a:lstStyle/>
          <a:p>
            <a:pPr>
              <a:defRPr sz="3600">
                <a:solidFill>
                  <a:srgbClr val="FFFFFF"/>
                </a:solidFill>
              </a:defRPr>
            </a:pPr>
            <a:r>
              <a:t>Adam Abdellaoui, Lead Developer</a:t>
            </a:r>
          </a:p>
          <a:p>
            <a:pPr>
              <a:defRPr sz="3600">
                <a:solidFill>
                  <a:srgbClr val="FFFFFF"/>
                </a:solidFill>
              </a:defRPr>
            </a:pPr>
            <a:r>
              <a:t>Brandon McLean, Leada Researcher</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Background"/>
          <p:cNvSpPr txBox="1"/>
          <p:nvPr>
            <p:ph type="title"/>
          </p:nvPr>
        </p:nvSpPr>
        <p:spPr>
          <a:prstGeom prst="rect">
            <a:avLst/>
          </a:prstGeom>
        </p:spPr>
        <p:txBody>
          <a:bodyPr/>
          <a:lstStyle/>
          <a:p>
            <a:pPr/>
            <a:r>
              <a:t>Background </a:t>
            </a:r>
          </a:p>
        </p:txBody>
      </p:sp>
      <p:sp>
        <p:nvSpPr>
          <p:cNvPr id="175" name="Slide Subtitle"/>
          <p:cNvSpPr txBox="1"/>
          <p:nvPr>
            <p:ph type="body" idx="21"/>
          </p:nvPr>
        </p:nvSpPr>
        <p:spPr>
          <a:prstGeom prst="rect">
            <a:avLst/>
          </a:prstGeom>
        </p:spPr>
        <p:txBody>
          <a:bodyPr/>
          <a:lstStyle/>
          <a:p>
            <a:pPr/>
          </a:p>
        </p:txBody>
      </p:sp>
      <p:sp>
        <p:nvSpPr>
          <p:cNvPr id="176" name="Predictive analytics is a useful tool in forecasting across many sectors: economics, healthcare, logistics, sciences, &amp; manufacturing. Often used to support government policy…"/>
          <p:cNvSpPr txBox="1"/>
          <p:nvPr>
            <p:ph type="body" idx="1"/>
          </p:nvPr>
        </p:nvSpPr>
        <p:spPr>
          <a:prstGeom prst="rect">
            <a:avLst/>
          </a:prstGeom>
        </p:spPr>
        <p:txBody>
          <a:bodyPr/>
          <a:lstStyle/>
          <a:p>
            <a:pPr/>
            <a:r>
              <a:t>Predictive analytics is a useful tool in forecasting across many sectors: economics, healthcare, logistics, sciences, &amp; manufacturing. Often used to support government policy</a:t>
            </a:r>
          </a:p>
          <a:p>
            <a:pPr/>
            <a:r>
              <a:t>Robot adoption worldwide is on the rise, with 500,000+ installed annually</a:t>
            </a:r>
          </a:p>
          <a:p>
            <a:pPr/>
            <a:r>
              <a:t>Industrial robots have become more advanced, efficient, and diverse over recent years</a:t>
            </a:r>
          </a:p>
          <a:p>
            <a:pPr/>
            <a:r>
              <a:t>Supported by Industry 4.0 (Fourth Industrial Revolution), Internet of Things, and increased demand for automation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Research Questions"/>
          <p:cNvSpPr txBox="1"/>
          <p:nvPr>
            <p:ph type="title"/>
          </p:nvPr>
        </p:nvSpPr>
        <p:spPr>
          <a:prstGeom prst="rect">
            <a:avLst/>
          </a:prstGeom>
        </p:spPr>
        <p:txBody>
          <a:bodyPr/>
          <a:lstStyle/>
          <a:p>
            <a:pPr/>
            <a:r>
              <a:t>Research Questions</a:t>
            </a:r>
          </a:p>
        </p:txBody>
      </p:sp>
      <p:sp>
        <p:nvSpPr>
          <p:cNvPr id="179" name="Slide Subtitle"/>
          <p:cNvSpPr txBox="1"/>
          <p:nvPr>
            <p:ph type="body" idx="21"/>
          </p:nvPr>
        </p:nvSpPr>
        <p:spPr>
          <a:prstGeom prst="rect">
            <a:avLst/>
          </a:prstGeom>
        </p:spPr>
        <p:txBody>
          <a:bodyPr/>
          <a:lstStyle/>
          <a:p>
            <a:pPr/>
          </a:p>
        </p:txBody>
      </p:sp>
      <p:sp>
        <p:nvSpPr>
          <p:cNvPr id="180" name="How can machine learning models improve the accuracy of GDP forecasting compared to traditional econometric approaches when incorporating high-dimensional macroeconomic and technological variables?…"/>
          <p:cNvSpPr txBox="1"/>
          <p:nvPr>
            <p:ph type="body" idx="1"/>
          </p:nvPr>
        </p:nvSpPr>
        <p:spPr>
          <a:prstGeom prst="rect">
            <a:avLst/>
          </a:prstGeom>
        </p:spPr>
        <p:txBody>
          <a:bodyPr/>
          <a:lstStyle/>
          <a:p>
            <a:pPr/>
            <a:r>
              <a:t>How can machine learning models improve the accuracy of GDP forecasting compared to traditional econometric approaches when incorporating high-dimensional macroeconomic and technological variables?</a:t>
            </a:r>
          </a:p>
          <a:p>
            <a:pPr/>
            <a:r>
              <a:t>To what extent does industrial robotics adoption in manufacturing contribute to productivity gains and GDP growth in national economies?</a:t>
            </a:r>
          </a:p>
          <a:p>
            <a:pPr/>
            <a:r>
              <a:t>Can ML-forecasting models capture the macroeconomic impact of automation and robotics adoption across economic sectors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Robotics and automation"/>
          <p:cNvSpPr txBox="1"/>
          <p:nvPr>
            <p:ph type="title"/>
          </p:nvPr>
        </p:nvSpPr>
        <p:spPr>
          <a:prstGeom prst="rect">
            <a:avLst/>
          </a:prstGeom>
        </p:spPr>
        <p:txBody>
          <a:bodyPr/>
          <a:lstStyle/>
          <a:p>
            <a:pPr/>
            <a:r>
              <a:t>Robotics and automation</a:t>
            </a:r>
          </a:p>
        </p:txBody>
      </p:sp>
      <p:sp>
        <p:nvSpPr>
          <p:cNvPr id="183" name="Slide Subtitle"/>
          <p:cNvSpPr txBox="1"/>
          <p:nvPr>
            <p:ph type="body" idx="21"/>
          </p:nvPr>
        </p:nvSpPr>
        <p:spPr>
          <a:prstGeom prst="rect">
            <a:avLst/>
          </a:prstGeom>
        </p:spPr>
        <p:txBody>
          <a:bodyPr/>
          <a:lstStyle/>
          <a:p>
            <a:pPr/>
          </a:p>
        </p:txBody>
      </p:sp>
      <p:sp>
        <p:nvSpPr>
          <p:cNvPr id="184" name="Automation &amp; robotics technology in the construction industry increased productivity, safety, &amp; operational efficiency (T. Patel, Bapat &amp; D. Patel, 2024 )…"/>
          <p:cNvSpPr txBox="1"/>
          <p:nvPr>
            <p:ph type="body" idx="1"/>
          </p:nvPr>
        </p:nvSpPr>
        <p:spPr>
          <a:prstGeom prst="rect">
            <a:avLst/>
          </a:prstGeom>
        </p:spPr>
        <p:txBody>
          <a:bodyPr/>
          <a:lstStyle/>
          <a:p>
            <a:pPr/>
            <a:r>
              <a:t>Automation &amp; robotics technology in the construction industry increased productivity, safety, &amp; operational efficiency (T. Patel, Bapat &amp; D. Patel, 2024 )</a:t>
            </a:r>
          </a:p>
          <a:p>
            <a:pPr/>
            <a:r>
              <a:t>Adoption barriers include: high implementation cost, lack of technical expertise, interoperability challenges with legacy systems and existing infrastructure. (F. Zhang, Deng, C. Zhang, Liu, Zou, Wang &amp; Guo, 2025) </a:t>
            </a:r>
          </a:p>
          <a:p>
            <a:pPr/>
            <a:r>
              <a:t>Globally annual installations surpassed 500,000 units in 2020 (Urrea &amp; Kern, 2025). China is a large supporter of the use of industrial robots and increased domestic stock to 3 million units in 2025 (Cui, Yao, Meng, Zao &amp; Liu, 2026)</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Econometric modeling"/>
          <p:cNvSpPr txBox="1"/>
          <p:nvPr>
            <p:ph type="title"/>
          </p:nvPr>
        </p:nvSpPr>
        <p:spPr>
          <a:prstGeom prst="rect">
            <a:avLst/>
          </a:prstGeom>
        </p:spPr>
        <p:txBody>
          <a:bodyPr/>
          <a:lstStyle/>
          <a:p>
            <a:pPr/>
            <a:r>
              <a:t>Econometric modeling</a:t>
            </a:r>
          </a:p>
        </p:txBody>
      </p:sp>
      <p:sp>
        <p:nvSpPr>
          <p:cNvPr id="187" name="Slide Subtitle"/>
          <p:cNvSpPr txBox="1"/>
          <p:nvPr>
            <p:ph type="body" idx="21"/>
          </p:nvPr>
        </p:nvSpPr>
        <p:spPr>
          <a:prstGeom prst="rect">
            <a:avLst/>
          </a:prstGeom>
        </p:spPr>
        <p:txBody>
          <a:bodyPr/>
          <a:lstStyle/>
          <a:p>
            <a:pPr/>
          </a:p>
        </p:txBody>
      </p:sp>
      <p:sp>
        <p:nvSpPr>
          <p:cNvPr id="188" name="Information and Communication Technologies (ICT) development measured and modeled to asses the relationship between ICT advancement and economic performance (Elbatal, Sarwar, Daniyal, Hussain, &amp; Ghorbal)…"/>
          <p:cNvSpPr txBox="1"/>
          <p:nvPr>
            <p:ph type="body" idx="1"/>
          </p:nvPr>
        </p:nvSpPr>
        <p:spPr>
          <a:prstGeom prst="rect">
            <a:avLst/>
          </a:prstGeom>
        </p:spPr>
        <p:txBody>
          <a:bodyPr/>
          <a:lstStyle/>
          <a:p>
            <a:pPr/>
            <a:r>
              <a:t>Information and Communication Technologies (ICT) development measured and modeled to asses the relationship between ICT advancement and economic performance (Elbatal, Sarwar, Daniyal, Hussain, &amp; Ghorbal) </a:t>
            </a:r>
          </a:p>
          <a:p>
            <a:pPr/>
            <a:r>
              <a:t>Commonly leveraged ML techniques — Linear Regression, Decision Trees, Random Forest, and XGBoost</a:t>
            </a:r>
          </a:p>
          <a:p>
            <a:pPr/>
            <a:r>
              <a:t>Predictive accuracy varies significantly across sectors and geographic regions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Research Gaps"/>
          <p:cNvSpPr txBox="1"/>
          <p:nvPr>
            <p:ph type="title"/>
          </p:nvPr>
        </p:nvSpPr>
        <p:spPr>
          <a:prstGeom prst="rect">
            <a:avLst/>
          </a:prstGeom>
        </p:spPr>
        <p:txBody>
          <a:bodyPr/>
          <a:lstStyle/>
          <a:p>
            <a:pPr/>
            <a:r>
              <a:t>Research Gaps</a:t>
            </a:r>
          </a:p>
        </p:txBody>
      </p:sp>
      <p:sp>
        <p:nvSpPr>
          <p:cNvPr id="191" name="Slide Subtitle"/>
          <p:cNvSpPr txBox="1"/>
          <p:nvPr>
            <p:ph type="body" idx="21"/>
          </p:nvPr>
        </p:nvSpPr>
        <p:spPr>
          <a:prstGeom prst="rect">
            <a:avLst/>
          </a:prstGeom>
        </p:spPr>
        <p:txBody>
          <a:bodyPr/>
          <a:lstStyle/>
          <a:p>
            <a:pPr/>
          </a:p>
        </p:txBody>
      </p:sp>
      <p:sp>
        <p:nvSpPr>
          <p:cNvPr id="192" name="Country specific datasets limits generalizability…"/>
          <p:cNvSpPr txBox="1"/>
          <p:nvPr>
            <p:ph type="body" idx="1"/>
          </p:nvPr>
        </p:nvSpPr>
        <p:spPr>
          <a:prstGeom prst="rect">
            <a:avLst/>
          </a:prstGeom>
        </p:spPr>
        <p:txBody>
          <a:bodyPr/>
          <a:lstStyle/>
          <a:p>
            <a:pPr/>
            <a:r>
              <a:t>Country specific datasets limits generalizability</a:t>
            </a:r>
          </a:p>
          <a:p>
            <a:pPr/>
            <a:r>
              <a:t>Lack of standardized processes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How our project builds upon these works"/>
          <p:cNvSpPr txBox="1"/>
          <p:nvPr>
            <p:ph type="title"/>
          </p:nvPr>
        </p:nvSpPr>
        <p:spPr>
          <a:prstGeom prst="rect">
            <a:avLst/>
          </a:prstGeom>
        </p:spPr>
        <p:txBody>
          <a:bodyPr/>
          <a:lstStyle/>
          <a:p>
            <a:pPr/>
            <a:r>
              <a:t>How our project builds upon these works</a:t>
            </a:r>
          </a:p>
        </p:txBody>
      </p:sp>
      <p:sp>
        <p:nvSpPr>
          <p:cNvPr id="195" name="Slide Subtitle"/>
          <p:cNvSpPr txBox="1"/>
          <p:nvPr>
            <p:ph type="body" idx="21"/>
          </p:nvPr>
        </p:nvSpPr>
        <p:spPr>
          <a:prstGeom prst="rect">
            <a:avLst/>
          </a:prstGeom>
        </p:spPr>
        <p:txBody>
          <a:bodyPr/>
          <a:lstStyle/>
          <a:p>
            <a:pPr/>
          </a:p>
        </p:txBody>
      </p:sp>
      <p:sp>
        <p:nvSpPr>
          <p:cNvPr id="196" name="Using predictive analysis models as our base we modify and customize our model to focus on a specific sector and predict scenarios of increased automation…"/>
          <p:cNvSpPr txBox="1"/>
          <p:nvPr>
            <p:ph type="body" idx="1"/>
          </p:nvPr>
        </p:nvSpPr>
        <p:spPr>
          <a:prstGeom prst="rect">
            <a:avLst/>
          </a:prstGeom>
        </p:spPr>
        <p:txBody>
          <a:bodyPr/>
          <a:lstStyle/>
          <a:p>
            <a:pPr/>
            <a:r>
              <a:t>Using predictive analysis models as our base we modify and customize our model to focus on a specific sector and predict scenarios of increased automation </a:t>
            </a:r>
          </a:p>
          <a:p>
            <a:pPr/>
            <a:r>
              <a:t>Previous works have provided necessary categorization of features (Domestic Value in Exports, Foreign Value added in Exports, Global Value Chain Participation, etc.) </a:t>
            </a:r>
          </a:p>
          <a:p>
            <a:pPr/>
            <a:r>
              <a:t>Utilizes established data on industrial robot adoption as a key feature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Data Flow"/>
          <p:cNvSpPr txBox="1"/>
          <p:nvPr>
            <p:ph type="title"/>
          </p:nvPr>
        </p:nvSpPr>
        <p:spPr>
          <a:prstGeom prst="rect">
            <a:avLst/>
          </a:prstGeom>
        </p:spPr>
        <p:txBody>
          <a:bodyPr/>
          <a:lstStyle/>
          <a:p>
            <a:pPr/>
            <a:r>
              <a:t>Data Flow</a:t>
            </a:r>
          </a:p>
        </p:txBody>
      </p:sp>
      <p:sp>
        <p:nvSpPr>
          <p:cNvPr id="199" name="Slide Subtitle"/>
          <p:cNvSpPr txBox="1"/>
          <p:nvPr>
            <p:ph type="body" idx="21"/>
          </p:nvPr>
        </p:nvSpPr>
        <p:spPr>
          <a:prstGeom prst="rect">
            <a:avLst/>
          </a:prstGeom>
        </p:spPr>
        <p:txBody>
          <a:bodyPr/>
          <a:lstStyle/>
          <a:p>
            <a:pPr/>
          </a:p>
        </p:txBody>
      </p:sp>
      <p:sp>
        <p:nvSpPr>
          <p:cNvPr id="200" name="Slide bullet text"/>
          <p:cNvSpPr txBox="1"/>
          <p:nvPr>
            <p:ph type="body" idx="1"/>
          </p:nvPr>
        </p:nvSpPr>
        <p:spPr>
          <a:prstGeom prst="rect">
            <a:avLst/>
          </a:prstGeom>
        </p:spPr>
        <p:txBody>
          <a:bodyPr/>
          <a:lstStyle/>
          <a:p>
            <a:pPr/>
          </a:p>
        </p:txBody>
      </p:sp>
      <p:sp>
        <p:nvSpPr>
          <p:cNvPr id="201" name="IMF database"/>
          <p:cNvSpPr/>
          <p:nvPr/>
        </p:nvSpPr>
        <p:spPr>
          <a:xfrm>
            <a:off x="1732237" y="5079078"/>
            <a:ext cx="3411519" cy="17020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0" y="10800"/>
                </a:lnTo>
                <a:lnTo>
                  <a:pt x="10800" y="21600"/>
                </a:lnTo>
                <a:lnTo>
                  <a:pt x="21600" y="10800"/>
                </a:lnTo>
                <a:lnTo>
                  <a:pt x="10800" y="0"/>
                </a:lnTo>
                <a:close/>
              </a:path>
            </a:pathLst>
          </a:cu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latin typeface="Helvetica Neue Medium"/>
                <a:ea typeface="Helvetica Neue Medium"/>
                <a:cs typeface="Helvetica Neue Medium"/>
                <a:sym typeface="Helvetica Neue Medium"/>
              </a:defRPr>
            </a:lvl1pPr>
          </a:lstStyle>
          <a:p>
            <a:pPr/>
            <a:r>
              <a:t>IMF database</a:t>
            </a:r>
          </a:p>
        </p:txBody>
      </p:sp>
      <p:sp>
        <p:nvSpPr>
          <p:cNvPr id="202" name="OECD"/>
          <p:cNvSpPr/>
          <p:nvPr/>
        </p:nvSpPr>
        <p:spPr>
          <a:xfrm>
            <a:off x="1486250" y="7525496"/>
            <a:ext cx="3411519" cy="17020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0" y="10800"/>
                </a:lnTo>
                <a:lnTo>
                  <a:pt x="10800" y="21600"/>
                </a:lnTo>
                <a:lnTo>
                  <a:pt x="21600" y="10800"/>
                </a:lnTo>
                <a:lnTo>
                  <a:pt x="10800" y="0"/>
                </a:lnTo>
                <a:close/>
              </a:path>
            </a:pathLst>
          </a:cu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latin typeface="Helvetica Neue Medium"/>
                <a:ea typeface="Helvetica Neue Medium"/>
                <a:cs typeface="Helvetica Neue Medium"/>
                <a:sym typeface="Helvetica Neue Medium"/>
              </a:defRPr>
            </a:lvl1pPr>
          </a:lstStyle>
          <a:p>
            <a:pPr/>
            <a:r>
              <a:t>OECD</a:t>
            </a:r>
          </a:p>
        </p:txBody>
      </p:sp>
      <p:sp>
        <p:nvSpPr>
          <p:cNvPr id="203" name="World Bank"/>
          <p:cNvSpPr/>
          <p:nvPr/>
        </p:nvSpPr>
        <p:spPr>
          <a:xfrm>
            <a:off x="1486250" y="10194774"/>
            <a:ext cx="3411519" cy="17020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0" y="10800"/>
                </a:lnTo>
                <a:lnTo>
                  <a:pt x="10800" y="21600"/>
                </a:lnTo>
                <a:lnTo>
                  <a:pt x="21600" y="10800"/>
                </a:lnTo>
                <a:lnTo>
                  <a:pt x="10800" y="0"/>
                </a:lnTo>
                <a:close/>
              </a:path>
            </a:pathLst>
          </a:cu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latin typeface="Helvetica Neue Medium"/>
                <a:ea typeface="Helvetica Neue Medium"/>
                <a:cs typeface="Helvetica Neue Medium"/>
                <a:sym typeface="Helvetica Neue Medium"/>
              </a:defRPr>
            </a:lvl1pPr>
          </a:lstStyle>
          <a:p>
            <a:pPr/>
            <a:r>
              <a:t>World Bank</a:t>
            </a:r>
          </a:p>
        </p:txBody>
      </p:sp>
      <p:grpSp>
        <p:nvGrpSpPr>
          <p:cNvPr id="206" name="Cylinder"/>
          <p:cNvGrpSpPr/>
          <p:nvPr/>
        </p:nvGrpSpPr>
        <p:grpSpPr>
          <a:xfrm>
            <a:off x="8617097" y="5027223"/>
            <a:ext cx="2024159" cy="2637738"/>
            <a:chOff x="0" y="0"/>
            <a:chExt cx="2024158" cy="2637737"/>
          </a:xfrm>
        </p:grpSpPr>
        <p:sp>
          <p:nvSpPr>
            <p:cNvPr id="205" name="Cylinder"/>
            <p:cNvSpPr/>
            <p:nvPr/>
          </p:nvSpPr>
          <p:spPr>
            <a:xfrm>
              <a:off x="53855" y="53881"/>
              <a:ext cx="1916449" cy="2529976"/>
            </a:xfrm>
            <a:custGeom>
              <a:avLst/>
              <a:gdLst/>
              <a:ahLst/>
              <a:cxnLst>
                <a:cxn ang="0">
                  <a:pos x="wd2" y="hd2"/>
                </a:cxn>
                <a:cxn ang="5400000">
                  <a:pos x="wd2" y="hd2"/>
                </a:cxn>
                <a:cxn ang="10800000">
                  <a:pos x="wd2" y="hd2"/>
                </a:cxn>
                <a:cxn ang="16200000">
                  <a:pos x="wd2" y="hd2"/>
                </a:cxn>
              </a:cxnLst>
              <a:rect l="0" t="0" r="r" b="b"/>
              <a:pathLst>
                <a:path w="19679" h="21600" fill="norm" stroke="1" extrusionOk="0">
                  <a:moveTo>
                    <a:pt x="9839" y="0"/>
                  </a:moveTo>
                  <a:cubicBezTo>
                    <a:pt x="7321" y="0"/>
                    <a:pt x="4803" y="241"/>
                    <a:pt x="2882" y="724"/>
                  </a:cubicBezTo>
                  <a:cubicBezTo>
                    <a:pt x="-961" y="1689"/>
                    <a:pt x="-961" y="3255"/>
                    <a:pt x="2882" y="4221"/>
                  </a:cubicBezTo>
                  <a:cubicBezTo>
                    <a:pt x="6724" y="5186"/>
                    <a:pt x="12954" y="5186"/>
                    <a:pt x="16796" y="4221"/>
                  </a:cubicBezTo>
                  <a:cubicBezTo>
                    <a:pt x="20639" y="3255"/>
                    <a:pt x="20639" y="1689"/>
                    <a:pt x="16796" y="724"/>
                  </a:cubicBezTo>
                  <a:cubicBezTo>
                    <a:pt x="14875" y="241"/>
                    <a:pt x="12357" y="0"/>
                    <a:pt x="9839" y="0"/>
                  </a:cubicBezTo>
                  <a:close/>
                  <a:moveTo>
                    <a:pt x="0" y="3593"/>
                  </a:moveTo>
                  <a:lnTo>
                    <a:pt x="0" y="18993"/>
                  </a:lnTo>
                  <a:cubicBezTo>
                    <a:pt x="0" y="20356"/>
                    <a:pt x="4405" y="21600"/>
                    <a:pt x="9839" y="21600"/>
                  </a:cubicBezTo>
                  <a:cubicBezTo>
                    <a:pt x="15273" y="21600"/>
                    <a:pt x="19678" y="20356"/>
                    <a:pt x="19678" y="18993"/>
                  </a:cubicBezTo>
                  <a:lnTo>
                    <a:pt x="19678" y="3593"/>
                  </a:lnTo>
                  <a:cubicBezTo>
                    <a:pt x="18279" y="4621"/>
                    <a:pt x="14401" y="5357"/>
                    <a:pt x="9839" y="5357"/>
                  </a:cubicBezTo>
                  <a:cubicBezTo>
                    <a:pt x="5277" y="5357"/>
                    <a:pt x="1399" y="4621"/>
                    <a:pt x="0" y="3593"/>
                  </a:cubicBezTo>
                  <a:close/>
                </a:path>
              </a:pathLst>
            </a:custGeom>
            <a:solidFill>
              <a:srgbClr val="FFFFFF"/>
            </a:solidFill>
            <a:ln>
              <a:noFill/>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pic>
          <p:nvPicPr>
            <p:cNvPr id="204" name="Cylinder Cylinder" descr="Cylinder Cylinder"/>
            <p:cNvPicPr>
              <a:picLocks noChangeAspect="0"/>
            </p:cNvPicPr>
            <p:nvPr/>
          </p:nvPicPr>
          <p:blipFill>
            <a:blip r:embed="rId2">
              <a:extLst/>
            </a:blip>
            <a:stretch>
              <a:fillRect/>
            </a:stretch>
          </p:blipFill>
          <p:spPr>
            <a:xfrm>
              <a:off x="0" y="-1"/>
              <a:ext cx="2024159" cy="2637739"/>
            </a:xfrm>
            <a:prstGeom prst="rect">
              <a:avLst/>
            </a:prstGeom>
            <a:effectLst/>
          </p:spPr>
        </p:pic>
      </p:grpSp>
      <p:sp>
        <p:nvSpPr>
          <p:cNvPr id="207" name="Line"/>
          <p:cNvSpPr/>
          <p:nvPr/>
        </p:nvSpPr>
        <p:spPr>
          <a:xfrm>
            <a:off x="5076357" y="5886621"/>
            <a:ext cx="3468415" cy="1"/>
          </a:xfrm>
          <a:prstGeom prst="line">
            <a:avLst/>
          </a:prstGeom>
          <a:ln w="25400">
            <a:solidFill>
              <a:srgbClr val="000000"/>
            </a:solidFill>
            <a:miter lim="400000"/>
            <a:tailEnd type="triangle"/>
          </a:ln>
        </p:spPr>
        <p:txBody>
          <a:bodyPr lIns="50800" tIns="50800" rIns="50800" bIns="50800" anchor="ctr"/>
          <a:lstStyle/>
          <a:p>
            <a:pPr/>
          </a:p>
        </p:txBody>
      </p:sp>
      <p:sp>
        <p:nvSpPr>
          <p:cNvPr id="208" name="Line"/>
          <p:cNvSpPr/>
          <p:nvPr/>
        </p:nvSpPr>
        <p:spPr>
          <a:xfrm flipV="1">
            <a:off x="4876994" y="7331482"/>
            <a:ext cx="3692021" cy="3692021"/>
          </a:xfrm>
          <a:prstGeom prst="line">
            <a:avLst/>
          </a:prstGeom>
          <a:ln w="25400">
            <a:solidFill>
              <a:srgbClr val="000000"/>
            </a:solidFill>
            <a:miter lim="400000"/>
            <a:tailEnd type="triangle"/>
          </a:ln>
        </p:spPr>
        <p:txBody>
          <a:bodyPr lIns="50800" tIns="50800" rIns="50800" bIns="50800" anchor="ctr"/>
          <a:lstStyle/>
          <a:p>
            <a:pPr/>
          </a:p>
        </p:txBody>
      </p:sp>
      <p:sp>
        <p:nvSpPr>
          <p:cNvPr id="209" name="Line"/>
          <p:cNvSpPr/>
          <p:nvPr/>
        </p:nvSpPr>
        <p:spPr>
          <a:xfrm flipV="1">
            <a:off x="4889864" y="6613057"/>
            <a:ext cx="3663192" cy="1719163"/>
          </a:xfrm>
          <a:prstGeom prst="line">
            <a:avLst/>
          </a:prstGeom>
          <a:ln w="25400">
            <a:solidFill>
              <a:srgbClr val="000000"/>
            </a:solidFill>
            <a:miter lim="400000"/>
            <a:tailEnd type="triangle"/>
          </a:ln>
        </p:spPr>
        <p:txBody>
          <a:bodyPr lIns="50800" tIns="50800" rIns="50800" bIns="50800" anchor="ctr"/>
          <a:lstStyle/>
          <a:p>
            <a:pPr/>
          </a:p>
        </p:txBody>
      </p:sp>
      <p:sp>
        <p:nvSpPr>
          <p:cNvPr id="210" name="Preprocessing"/>
          <p:cNvSpPr/>
          <p:nvPr/>
        </p:nvSpPr>
        <p:spPr>
          <a:xfrm>
            <a:off x="8359055" y="9524142"/>
            <a:ext cx="3297654" cy="16488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0"/>
                </a:moveTo>
                <a:cubicBezTo>
                  <a:pt x="2418" y="0"/>
                  <a:pt x="0" y="4835"/>
                  <a:pt x="0" y="10800"/>
                </a:cubicBezTo>
                <a:cubicBezTo>
                  <a:pt x="0" y="16765"/>
                  <a:pt x="2418" y="21600"/>
                  <a:pt x="5400" y="21600"/>
                </a:cubicBezTo>
                <a:lnTo>
                  <a:pt x="16200" y="21600"/>
                </a:lnTo>
                <a:cubicBezTo>
                  <a:pt x="19182" y="21600"/>
                  <a:pt x="21600" y="16765"/>
                  <a:pt x="21600" y="10800"/>
                </a:cubicBezTo>
                <a:cubicBezTo>
                  <a:pt x="21600" y="4835"/>
                  <a:pt x="19182" y="0"/>
                  <a:pt x="16200" y="0"/>
                </a:cubicBezTo>
                <a:lnTo>
                  <a:pt x="5400" y="0"/>
                </a:lnTo>
                <a:close/>
              </a:path>
            </a:pathLst>
          </a:cu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latin typeface="Helvetica Neue Medium"/>
                <a:ea typeface="Helvetica Neue Medium"/>
                <a:cs typeface="Helvetica Neue Medium"/>
                <a:sym typeface="Helvetica Neue Medium"/>
              </a:defRPr>
            </a:lvl1pPr>
          </a:lstStyle>
          <a:p>
            <a:pPr/>
            <a:r>
              <a:t>Preprocessing</a:t>
            </a:r>
          </a:p>
        </p:txBody>
      </p:sp>
      <p:sp>
        <p:nvSpPr>
          <p:cNvPr id="211" name="Line"/>
          <p:cNvSpPr/>
          <p:nvPr/>
        </p:nvSpPr>
        <p:spPr>
          <a:xfrm>
            <a:off x="10260288" y="7482185"/>
            <a:ext cx="1" cy="1788650"/>
          </a:xfrm>
          <a:prstGeom prst="line">
            <a:avLst/>
          </a:prstGeom>
          <a:ln w="25400">
            <a:solidFill>
              <a:srgbClr val="000000"/>
            </a:solidFill>
            <a:miter lim="400000"/>
            <a:tailEnd type="triangle"/>
          </a:ln>
        </p:spPr>
        <p:txBody>
          <a:bodyPr lIns="50800" tIns="50800" rIns="50800" bIns="50800" anchor="ctr"/>
          <a:lstStyle/>
          <a:p>
            <a:pPr/>
          </a:p>
        </p:txBody>
      </p:sp>
      <p:sp>
        <p:nvSpPr>
          <p:cNvPr id="212" name="Training set"/>
          <p:cNvSpPr/>
          <p:nvPr/>
        </p:nvSpPr>
        <p:spPr>
          <a:xfrm>
            <a:off x="13150625" y="7674071"/>
            <a:ext cx="3305593" cy="14048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72" y="0"/>
                </a:moveTo>
                <a:lnTo>
                  <a:pt x="0" y="21600"/>
                </a:lnTo>
                <a:lnTo>
                  <a:pt x="21600" y="21600"/>
                </a:lnTo>
                <a:lnTo>
                  <a:pt x="18627" y="0"/>
                </a:lnTo>
                <a:lnTo>
                  <a:pt x="2972" y="0"/>
                </a:lnTo>
                <a:close/>
              </a:path>
            </a:pathLst>
          </a:cu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latin typeface="Helvetica Neue Medium"/>
                <a:ea typeface="Helvetica Neue Medium"/>
                <a:cs typeface="Helvetica Neue Medium"/>
                <a:sym typeface="Helvetica Neue Medium"/>
              </a:defRPr>
            </a:lvl1pPr>
          </a:lstStyle>
          <a:p>
            <a:pPr/>
            <a:r>
              <a:t>Training set</a:t>
            </a:r>
          </a:p>
        </p:txBody>
      </p:sp>
      <p:sp>
        <p:nvSpPr>
          <p:cNvPr id="213" name="Testing set"/>
          <p:cNvSpPr/>
          <p:nvPr/>
        </p:nvSpPr>
        <p:spPr>
          <a:xfrm>
            <a:off x="13523612" y="9922897"/>
            <a:ext cx="3305593" cy="14048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72" y="0"/>
                </a:moveTo>
                <a:lnTo>
                  <a:pt x="0" y="21600"/>
                </a:lnTo>
                <a:lnTo>
                  <a:pt x="21600" y="21600"/>
                </a:lnTo>
                <a:lnTo>
                  <a:pt x="18627" y="0"/>
                </a:lnTo>
                <a:lnTo>
                  <a:pt x="2972" y="0"/>
                </a:lnTo>
                <a:close/>
              </a:path>
            </a:pathLst>
          </a:cu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latin typeface="Helvetica Neue Medium"/>
                <a:ea typeface="Helvetica Neue Medium"/>
                <a:cs typeface="Helvetica Neue Medium"/>
                <a:sym typeface="Helvetica Neue Medium"/>
              </a:defRPr>
            </a:lvl1pPr>
          </a:lstStyle>
          <a:p>
            <a:pPr/>
            <a:r>
              <a:t>Testing set</a:t>
            </a:r>
          </a:p>
        </p:txBody>
      </p:sp>
      <p:sp>
        <p:nvSpPr>
          <p:cNvPr id="214" name="Line"/>
          <p:cNvSpPr/>
          <p:nvPr/>
        </p:nvSpPr>
        <p:spPr>
          <a:xfrm flipV="1">
            <a:off x="11555527" y="8650777"/>
            <a:ext cx="1705471" cy="923700"/>
          </a:xfrm>
          <a:prstGeom prst="line">
            <a:avLst/>
          </a:prstGeom>
          <a:ln w="25400">
            <a:solidFill>
              <a:srgbClr val="000000"/>
            </a:solidFill>
            <a:miter lim="400000"/>
            <a:tailEnd type="triangle"/>
          </a:ln>
        </p:spPr>
        <p:txBody>
          <a:bodyPr lIns="50800" tIns="50800" rIns="50800" bIns="50800" anchor="ctr"/>
          <a:lstStyle/>
          <a:p>
            <a:pPr/>
          </a:p>
        </p:txBody>
      </p:sp>
      <p:sp>
        <p:nvSpPr>
          <p:cNvPr id="215" name="Line"/>
          <p:cNvSpPr/>
          <p:nvPr/>
        </p:nvSpPr>
        <p:spPr>
          <a:xfrm flipV="1">
            <a:off x="11543260" y="10632000"/>
            <a:ext cx="2022900" cy="22602"/>
          </a:xfrm>
          <a:prstGeom prst="line">
            <a:avLst/>
          </a:prstGeom>
          <a:ln w="25400">
            <a:solidFill>
              <a:srgbClr val="000000"/>
            </a:solidFill>
            <a:miter lim="400000"/>
            <a:tailEnd type="triangle"/>
          </a:ln>
        </p:spPr>
        <p:txBody>
          <a:bodyPr lIns="50800" tIns="50800" rIns="50800" bIns="50800" anchor="ctr"/>
          <a:lstStyle/>
          <a:p>
            <a:pPr/>
          </a:p>
        </p:txBody>
      </p:sp>
      <p:sp>
        <p:nvSpPr>
          <p:cNvPr id="216" name="OWID"/>
          <p:cNvSpPr/>
          <p:nvPr/>
        </p:nvSpPr>
        <p:spPr>
          <a:xfrm>
            <a:off x="11603512" y="4573217"/>
            <a:ext cx="3411519" cy="17020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0" y="10800"/>
                </a:lnTo>
                <a:lnTo>
                  <a:pt x="10800" y="21600"/>
                </a:lnTo>
                <a:lnTo>
                  <a:pt x="21600" y="10800"/>
                </a:lnTo>
                <a:lnTo>
                  <a:pt x="10800" y="0"/>
                </a:lnTo>
                <a:close/>
              </a:path>
            </a:pathLst>
          </a:cu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latin typeface="Helvetica Neue Medium"/>
                <a:ea typeface="Helvetica Neue Medium"/>
                <a:cs typeface="Helvetica Neue Medium"/>
                <a:sym typeface="Helvetica Neue Medium"/>
              </a:defRPr>
            </a:lvl1pPr>
          </a:lstStyle>
          <a:p>
            <a:pPr/>
            <a:r>
              <a:t>OWID</a:t>
            </a:r>
          </a:p>
        </p:txBody>
      </p:sp>
      <p:sp>
        <p:nvSpPr>
          <p:cNvPr id="217" name="Line"/>
          <p:cNvSpPr/>
          <p:nvPr/>
        </p:nvSpPr>
        <p:spPr>
          <a:xfrm flipH="1">
            <a:off x="10705298" y="5491452"/>
            <a:ext cx="1159092" cy="858922"/>
          </a:xfrm>
          <a:prstGeom prst="line">
            <a:avLst/>
          </a:prstGeom>
          <a:ln w="25400">
            <a:solidFill>
              <a:srgbClr val="000000"/>
            </a:solidFill>
            <a:miter lim="400000"/>
            <a:tailEnd type="triangle"/>
          </a:ln>
        </p:spPr>
        <p:txBody>
          <a:bodyPr lIns="50800" tIns="50800" rIns="50800" bIns="50800" anchor="ctr"/>
          <a:lstStyle/>
          <a:p>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lide Title"/>
          <p:cNvSpPr txBox="1"/>
          <p:nvPr>
            <p:ph type="title"/>
          </p:nvPr>
        </p:nvSpPr>
        <p:spPr>
          <a:prstGeom prst="rect">
            <a:avLst/>
          </a:prstGeom>
        </p:spPr>
        <p:txBody>
          <a:bodyPr/>
          <a:lstStyle/>
          <a:p>
            <a:pPr/>
          </a:p>
        </p:txBody>
      </p:sp>
      <p:sp>
        <p:nvSpPr>
          <p:cNvPr id="220" name="Slide Subtitle"/>
          <p:cNvSpPr txBox="1"/>
          <p:nvPr>
            <p:ph type="body" idx="21"/>
          </p:nvPr>
        </p:nvSpPr>
        <p:spPr>
          <a:prstGeom prst="rect">
            <a:avLst/>
          </a:prstGeom>
        </p:spPr>
        <p:txBody>
          <a:bodyPr/>
          <a:lstStyle/>
          <a:p>
            <a:pPr/>
          </a:p>
        </p:txBody>
      </p:sp>
      <p:sp>
        <p:nvSpPr>
          <p:cNvPr id="221" name="Slide bullet text"/>
          <p:cNvSpPr txBox="1"/>
          <p:nvPr>
            <p:ph type="body" idx="1"/>
          </p:nvPr>
        </p:nvSpPr>
        <p:spPr>
          <a:prstGeom prst="rect">
            <a:avLst/>
          </a:prstGeom>
        </p:spPr>
        <p:txBody>
          <a:bodyPr/>
          <a:lstStyle/>
          <a:p>
            <a:pPr/>
          </a:p>
        </p:txBody>
      </p:sp>
      <p:pic>
        <p:nvPicPr>
          <p:cNvPr id="222" name="pasted-movie.heic" descr="pasted-movie.heic"/>
          <p:cNvPicPr>
            <a:picLocks noChangeAspect="1"/>
          </p:cNvPicPr>
          <p:nvPr/>
        </p:nvPicPr>
        <p:blipFill>
          <a:blip r:embed="rId2">
            <a:extLst/>
          </a:blip>
          <a:stretch>
            <a:fillRect/>
          </a:stretch>
        </p:blipFill>
        <p:spPr>
          <a:xfrm>
            <a:off x="269477" y="-197127"/>
            <a:ext cx="24625509" cy="11750763"/>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lide Title"/>
          <p:cNvSpPr txBox="1"/>
          <p:nvPr>
            <p:ph type="title"/>
          </p:nvPr>
        </p:nvSpPr>
        <p:spPr>
          <a:prstGeom prst="rect">
            <a:avLst/>
          </a:prstGeom>
        </p:spPr>
        <p:txBody>
          <a:bodyPr/>
          <a:lstStyle/>
          <a:p>
            <a:pPr/>
          </a:p>
        </p:txBody>
      </p:sp>
      <p:sp>
        <p:nvSpPr>
          <p:cNvPr id="225" name="Slide Subtitle"/>
          <p:cNvSpPr txBox="1"/>
          <p:nvPr>
            <p:ph type="body" idx="21"/>
          </p:nvPr>
        </p:nvSpPr>
        <p:spPr>
          <a:prstGeom prst="rect">
            <a:avLst/>
          </a:prstGeom>
        </p:spPr>
        <p:txBody>
          <a:bodyPr/>
          <a:lstStyle/>
          <a:p>
            <a:pPr/>
          </a:p>
        </p:txBody>
      </p:sp>
      <p:sp>
        <p:nvSpPr>
          <p:cNvPr id="226" name="Slide bullet text"/>
          <p:cNvSpPr txBox="1"/>
          <p:nvPr>
            <p:ph type="body" idx="1"/>
          </p:nvPr>
        </p:nvSpPr>
        <p:spPr>
          <a:prstGeom prst="rect">
            <a:avLst/>
          </a:prstGeom>
        </p:spPr>
        <p:txBody>
          <a:bodyPr/>
          <a:lstStyle/>
          <a:p>
            <a:pPr/>
          </a:p>
        </p:txBody>
      </p:sp>
      <p:pic>
        <p:nvPicPr>
          <p:cNvPr id="227" name="Image" descr="Image"/>
          <p:cNvPicPr>
            <a:picLocks noChangeAspect="1"/>
          </p:cNvPicPr>
          <p:nvPr/>
        </p:nvPicPr>
        <p:blipFill>
          <a:blip r:embed="rId2">
            <a:extLst/>
          </a:blip>
          <a:stretch>
            <a:fillRect/>
          </a:stretch>
        </p:blipFill>
        <p:spPr>
          <a:xfrm>
            <a:off x="576852" y="2982625"/>
            <a:ext cx="21971001" cy="775075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Slide Title"/>
          <p:cNvSpPr txBox="1"/>
          <p:nvPr>
            <p:ph type="title"/>
          </p:nvPr>
        </p:nvSpPr>
        <p:spPr>
          <a:prstGeom prst="rect">
            <a:avLst/>
          </a:prstGeom>
        </p:spPr>
        <p:txBody>
          <a:bodyPr/>
          <a:lstStyle/>
          <a:p>
            <a:pPr/>
          </a:p>
        </p:txBody>
      </p:sp>
      <p:sp>
        <p:nvSpPr>
          <p:cNvPr id="230" name="Slide Subtitle"/>
          <p:cNvSpPr txBox="1"/>
          <p:nvPr>
            <p:ph type="body" idx="21"/>
          </p:nvPr>
        </p:nvSpPr>
        <p:spPr>
          <a:prstGeom prst="rect">
            <a:avLst/>
          </a:prstGeom>
        </p:spPr>
        <p:txBody>
          <a:bodyPr/>
          <a:lstStyle/>
          <a:p>
            <a:pPr/>
          </a:p>
        </p:txBody>
      </p:sp>
      <p:sp>
        <p:nvSpPr>
          <p:cNvPr id="231" name="Slide bullet text"/>
          <p:cNvSpPr txBox="1"/>
          <p:nvPr>
            <p:ph type="body" idx="1"/>
          </p:nvPr>
        </p:nvSpPr>
        <p:spPr>
          <a:prstGeom prst="rect">
            <a:avLst/>
          </a:prstGeom>
        </p:spPr>
        <p:txBody>
          <a:bodyPr/>
          <a:lstStyle/>
          <a:p>
            <a:pPr/>
          </a:p>
        </p:txBody>
      </p:sp>
      <p:pic>
        <p:nvPicPr>
          <p:cNvPr id="232" name="Image" descr="Image"/>
          <p:cNvPicPr>
            <a:picLocks noChangeAspect="1"/>
          </p:cNvPicPr>
          <p:nvPr/>
        </p:nvPicPr>
        <p:blipFill>
          <a:blip r:embed="rId2">
            <a:extLst/>
          </a:blip>
          <a:stretch>
            <a:fillRect/>
          </a:stretch>
        </p:blipFill>
        <p:spPr>
          <a:xfrm>
            <a:off x="113303" y="4319552"/>
            <a:ext cx="23665421" cy="6808767"/>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lide Title"/>
          <p:cNvSpPr txBox="1"/>
          <p:nvPr>
            <p:ph type="title"/>
          </p:nvPr>
        </p:nvSpPr>
        <p:spPr>
          <a:prstGeom prst="rect">
            <a:avLst/>
          </a:prstGeom>
        </p:spPr>
        <p:txBody>
          <a:bodyPr/>
          <a:lstStyle/>
          <a:p>
            <a:pPr/>
          </a:p>
        </p:txBody>
      </p:sp>
      <p:sp>
        <p:nvSpPr>
          <p:cNvPr id="235" name="Slide Subtitle"/>
          <p:cNvSpPr txBox="1"/>
          <p:nvPr>
            <p:ph type="body" idx="21"/>
          </p:nvPr>
        </p:nvSpPr>
        <p:spPr>
          <a:prstGeom prst="rect">
            <a:avLst/>
          </a:prstGeom>
        </p:spPr>
        <p:txBody>
          <a:bodyPr/>
          <a:lstStyle/>
          <a:p>
            <a:pPr/>
          </a:p>
        </p:txBody>
      </p:sp>
      <p:sp>
        <p:nvSpPr>
          <p:cNvPr id="236" name="Slide bullet text"/>
          <p:cNvSpPr txBox="1"/>
          <p:nvPr>
            <p:ph type="body" idx="1"/>
          </p:nvPr>
        </p:nvSpPr>
        <p:spPr>
          <a:prstGeom prst="rect">
            <a:avLst/>
          </a:prstGeom>
        </p:spPr>
        <p:txBody>
          <a:bodyPr/>
          <a:lstStyle/>
          <a:p>
            <a:pPr/>
          </a:p>
        </p:txBody>
      </p:sp>
      <p:pic>
        <p:nvPicPr>
          <p:cNvPr id="237" name="Image" descr="Image"/>
          <p:cNvPicPr>
            <a:picLocks noChangeAspect="1"/>
          </p:cNvPicPr>
          <p:nvPr/>
        </p:nvPicPr>
        <p:blipFill>
          <a:blip r:embed="rId2">
            <a:extLst/>
          </a:blip>
          <a:stretch>
            <a:fillRect/>
          </a:stretch>
        </p:blipFill>
        <p:spPr>
          <a:xfrm>
            <a:off x="453738" y="1032965"/>
            <a:ext cx="10457627" cy="7482019"/>
          </a:xfrm>
          <a:prstGeom prst="rect">
            <a:avLst/>
          </a:prstGeom>
          <a:ln w="12700">
            <a:miter lim="400000"/>
          </a:ln>
        </p:spPr>
      </p:pic>
      <p:pic>
        <p:nvPicPr>
          <p:cNvPr id="238" name="Image" descr="Image"/>
          <p:cNvPicPr>
            <a:picLocks noChangeAspect="1"/>
          </p:cNvPicPr>
          <p:nvPr/>
        </p:nvPicPr>
        <p:blipFill>
          <a:blip r:embed="rId3">
            <a:extLst/>
          </a:blip>
          <a:stretch>
            <a:fillRect/>
          </a:stretch>
        </p:blipFill>
        <p:spPr>
          <a:xfrm>
            <a:off x="12307823" y="1144707"/>
            <a:ext cx="9750820" cy="840165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Conclusion"/>
          <p:cNvSpPr txBox="1"/>
          <p:nvPr>
            <p:ph type="title"/>
          </p:nvPr>
        </p:nvSpPr>
        <p:spPr>
          <a:prstGeom prst="rect">
            <a:avLst/>
          </a:prstGeom>
        </p:spPr>
        <p:txBody>
          <a:bodyPr/>
          <a:lstStyle/>
          <a:p>
            <a:pPr/>
            <a:r>
              <a:t>Conclusion</a:t>
            </a:r>
          </a:p>
        </p:txBody>
      </p:sp>
      <p:sp>
        <p:nvSpPr>
          <p:cNvPr id="241" name="Slide Subtitle"/>
          <p:cNvSpPr txBox="1"/>
          <p:nvPr>
            <p:ph type="body" idx="21"/>
          </p:nvPr>
        </p:nvSpPr>
        <p:spPr>
          <a:prstGeom prst="rect">
            <a:avLst/>
          </a:prstGeom>
        </p:spPr>
        <p:txBody>
          <a:bodyPr/>
          <a:lstStyle/>
          <a:p>
            <a:pPr/>
          </a:p>
        </p:txBody>
      </p:sp>
      <p:sp>
        <p:nvSpPr>
          <p:cNvPr id="242" name="Robot adoption is on the rise globally…"/>
          <p:cNvSpPr txBox="1"/>
          <p:nvPr>
            <p:ph type="body" idx="1"/>
          </p:nvPr>
        </p:nvSpPr>
        <p:spPr>
          <a:prstGeom prst="rect">
            <a:avLst/>
          </a:prstGeom>
        </p:spPr>
        <p:txBody>
          <a:bodyPr/>
          <a:lstStyle/>
          <a:p>
            <a:pPr/>
            <a:r>
              <a:t>Robot adoption is on the rise globally</a:t>
            </a:r>
          </a:p>
          <a:p>
            <a:pPr lvl="1"/>
            <a:r>
              <a:t>High input costs for small and medium organizations serve as a barrier to adoption</a:t>
            </a:r>
          </a:p>
          <a:p>
            <a:pPr/>
            <a:r>
              <a:t>Predictive analysis enables proactive action and discussion, helpful in public and private policy</a:t>
            </a:r>
          </a:p>
          <a:p>
            <a:pPr/>
            <a:r>
              <a:t>Many macroeconomic models are designed for single countries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References"/>
          <p:cNvSpPr txBox="1"/>
          <p:nvPr>
            <p:ph type="title"/>
          </p:nvPr>
        </p:nvSpPr>
        <p:spPr>
          <a:prstGeom prst="rect">
            <a:avLst/>
          </a:prstGeom>
        </p:spPr>
        <p:txBody>
          <a:bodyPr/>
          <a:lstStyle/>
          <a:p>
            <a:pPr/>
            <a:r>
              <a:t>References</a:t>
            </a:r>
          </a:p>
        </p:txBody>
      </p:sp>
      <p:sp>
        <p:nvSpPr>
          <p:cNvPr id="245" name="Slide Subtitle"/>
          <p:cNvSpPr txBox="1"/>
          <p:nvPr>
            <p:ph type="body" idx="21"/>
          </p:nvPr>
        </p:nvSpPr>
        <p:spPr>
          <a:prstGeom prst="rect">
            <a:avLst/>
          </a:prstGeom>
        </p:spPr>
        <p:txBody>
          <a:bodyPr/>
          <a:lstStyle/>
          <a:p>
            <a:pPr/>
          </a:p>
        </p:txBody>
      </p:sp>
      <p:sp>
        <p:nvSpPr>
          <p:cNvPr id="246" name="Muth, M., Lingenfelder, M., &amp; Nufer, G. (2024). The application of machine learning for demand prediction under macroeconomic volatility: a systematic literature review. Management Review Quarterly. https://doi.org/10.1007/s11301-024-00447-8…"/>
          <p:cNvSpPr txBox="1"/>
          <p:nvPr>
            <p:ph type="body" idx="1"/>
          </p:nvPr>
        </p:nvSpPr>
        <p:spPr>
          <a:prstGeom prst="rect">
            <a:avLst/>
          </a:prstGeom>
        </p:spPr>
        <p:txBody>
          <a:bodyPr/>
          <a:lstStyle/>
          <a:p>
            <a:pPr marL="215899" indent="-215899" defTabSz="310895">
              <a:lnSpc>
                <a:spcPct val="100000"/>
              </a:lnSpc>
              <a:spcBef>
                <a:spcPts val="0"/>
              </a:spcBef>
              <a:defRPr sz="3128">
                <a:solidFill>
                  <a:srgbClr val="2C3E50"/>
                </a:solidFill>
                <a:latin typeface="Times Roman"/>
                <a:ea typeface="Times Roman"/>
                <a:cs typeface="Times Roman"/>
                <a:sym typeface="Times Roman"/>
              </a:defRPr>
            </a:pPr>
            <a:r>
              <a:t>Muth, M., Lingenfelder, M., &amp; Nufer, G. (2024). The application of machine learning for demand prediction under macroeconomic volatility: a systematic literature review. Management Review Quarterly. https://doi.org/10.1007/s11301-024-00447-8</a:t>
            </a:r>
            <a:endParaRPr>
              <a:solidFill>
                <a:srgbClr val="000000"/>
              </a:solidFill>
            </a:endParaRPr>
          </a:p>
          <a:p>
            <a:pPr marL="215899" indent="-215899" defTabSz="310895">
              <a:lnSpc>
                <a:spcPct val="100000"/>
              </a:lnSpc>
              <a:spcBef>
                <a:spcPts val="1000"/>
              </a:spcBef>
              <a:defRPr sz="3128">
                <a:solidFill>
                  <a:srgbClr val="2C3E50"/>
                </a:solidFill>
                <a:latin typeface="Times Roman"/>
                <a:ea typeface="Times Roman"/>
                <a:cs typeface="Times Roman"/>
                <a:sym typeface="Times Roman"/>
              </a:defRPr>
            </a:pPr>
            <a:r>
              <a:t>‌Oh, J. (2025). Economics of long jump: Growth trajectories of South Korea, Japan, and China, and lessons to emerging economies. Asia Pacific Management Review, 30(3), 100370. </a:t>
            </a:r>
            <a:r>
              <a:rPr u="sng">
                <a:hlinkClick r:id="rId2" invalidUrl="" action="" tgtFrame="" tooltip="" history="1" highlightClick="0" endSnd="0"/>
              </a:rPr>
              <a:t>https://doi.org/10.1016/j.apmrv.2025.100370</a:t>
            </a:r>
            <a:endParaRPr>
              <a:solidFill>
                <a:srgbClr val="000000"/>
              </a:solidFill>
            </a:endParaRPr>
          </a:p>
          <a:p>
            <a:pPr marL="215899" indent="-215899" defTabSz="310895">
              <a:lnSpc>
                <a:spcPct val="100000"/>
              </a:lnSpc>
              <a:spcBef>
                <a:spcPts val="1000"/>
              </a:spcBef>
              <a:defRPr sz="3128">
                <a:solidFill>
                  <a:srgbClr val="2C3E50"/>
                </a:solidFill>
                <a:latin typeface="Times Roman"/>
                <a:ea typeface="Times Roman"/>
                <a:cs typeface="Times Roman"/>
                <a:sym typeface="Times Roman"/>
              </a:defRPr>
            </a:pPr>
            <a:r>
              <a:rPr>
                <a:solidFill>
                  <a:srgbClr val="000000"/>
                </a:solidFill>
              </a:rPr>
              <a:t> </a:t>
            </a:r>
            <a:r>
              <a:t>Adewale, M. D., Ebem, D. U., Awodele, O., Sambo-Magaji, A., Aggrey, E. M., Okechalu, E. A., Donatus, R. E., Olayanju, K. A., Owolabi, A. F., Oju, J. U., Ubadike, O. C., Otu, G. A., Muhammed, U. I., Danjuma, O. R., &amp; Oluyide, O. P. (2024). Predicting gross domestic product using the ensemble machine learning method. Systems and Soft Computing, 6, 200132. </a:t>
            </a:r>
            <a:r>
              <a:rPr u="sng">
                <a:hlinkClick r:id="rId3" invalidUrl="" action="" tgtFrame="" tooltip="" history="1" highlightClick="0" endSnd="0"/>
              </a:rPr>
              <a:t>https://doi.org/10.1016/j.sasc.2024.200132</a:t>
            </a:r>
            <a:endParaRPr>
              <a:solidFill>
                <a:srgbClr val="000000"/>
              </a:solidFill>
            </a:endParaRPr>
          </a:p>
          <a:p>
            <a:pPr marL="215899" indent="-215899" defTabSz="310895">
              <a:lnSpc>
                <a:spcPct val="100000"/>
              </a:lnSpc>
              <a:spcBef>
                <a:spcPts val="1000"/>
              </a:spcBef>
              <a:defRPr sz="3128">
                <a:solidFill>
                  <a:srgbClr val="2C3E50"/>
                </a:solidFill>
                <a:latin typeface="Times Roman"/>
                <a:ea typeface="Times Roman"/>
                <a:cs typeface="Times Roman"/>
                <a:sym typeface="Times Roman"/>
              </a:defRPr>
            </a:pPr>
            <a:r>
              <a:rPr>
                <a:solidFill>
                  <a:srgbClr val="000000"/>
                </a:solidFill>
              </a:rPr>
              <a:t> </a:t>
            </a:r>
            <a:r>
              <a:t>Elbatal, I., Sarwar, M., Jamal, F., Daniyal, M., Hussain, Z., &amp; Ben Ghorbal, A. (2025). Modelling on gross domestic product annual growth rate data by using time series, machine learning, and probability models. Journal of Radiation Research and Applied Sciences, 18(2), 101481. </a:t>
            </a:r>
            <a:r>
              <a:rPr u="sng">
                <a:hlinkClick r:id="rId4" invalidUrl="" action="" tgtFrame="" tooltip="" history="1" highlightClick="0" endSnd="0"/>
              </a:rPr>
              <a:t>https://doi.org/10.1016/j.jrras.2025.101481</a:t>
            </a:r>
            <a:endParaRPr>
              <a:solidFill>
                <a:srgbClr val="000000"/>
              </a:solidFill>
            </a:endParaRPr>
          </a:p>
          <a:p>
            <a:pPr marL="215899" indent="-215899" defTabSz="310895">
              <a:lnSpc>
                <a:spcPct val="100000"/>
              </a:lnSpc>
              <a:spcBef>
                <a:spcPts val="1000"/>
              </a:spcBef>
              <a:defRPr sz="3128">
                <a:solidFill>
                  <a:srgbClr val="2C3E50"/>
                </a:solidFill>
                <a:latin typeface="Times Roman"/>
                <a:ea typeface="Times Roman"/>
                <a:cs typeface="Times Roman"/>
                <a:sym typeface="Times Roman"/>
              </a:defRPr>
            </a:pPr>
            <a:r>
              <a:rPr>
                <a:solidFill>
                  <a:srgbClr val="000000"/>
                </a:solidFill>
              </a:rPr>
              <a:t> </a:t>
            </a:r>
            <a:r>
              <a:t>Shaker, M. T., Hadeer El-Batanouny, Abdelsalam, M., &amp; Helmy, Y. (2024). Systematic Review of Machine Learning Approaches in Forecasting Economic Growth and Enhancing Decent Work Opportunities: A Comprehensive Analysis. 377–392. </a:t>
            </a:r>
            <a:r>
              <a:rPr u="sng">
                <a:hlinkClick r:id="rId5" invalidUrl="" action="" tgtFrame="" tooltip="" history="1" highlightClick="0" endSnd="0"/>
              </a:rPr>
              <a:t>https://doi.org/10.1109/icci61671.2024.10485171</a:t>
            </a:r>
            <a:endParaRPr>
              <a:solidFill>
                <a:srgbClr val="000000"/>
              </a:solidFill>
            </a:endParaRPr>
          </a:p>
          <a:p>
            <a:pPr marL="215899" indent="-215899" defTabSz="310895">
              <a:lnSpc>
                <a:spcPct val="100000"/>
              </a:lnSpc>
              <a:spcBef>
                <a:spcPts val="1000"/>
              </a:spcBef>
              <a:defRPr sz="3128">
                <a:solidFill>
                  <a:srgbClr val="2C3E50"/>
                </a:solidFill>
                <a:latin typeface="Times Roman"/>
                <a:ea typeface="Times Roman"/>
                <a:cs typeface="Times Roman"/>
                <a:sym typeface="Times Roman"/>
              </a:defRPr>
            </a:pPr>
            <a:r>
              <a:rPr>
                <a:solidFill>
                  <a:srgbClr val="000000"/>
                </a:solidFill>
              </a:rPr>
              <a:t> </a:t>
            </a:r>
            <a:r>
              <a:t>Birigozzi, A., Silva, C. D., &amp; Luitel, P. (2025). Digital payments and GDP growth: A behavioral quantitative analysis. Research in International Business and Finance, 75, 102768–102768. </a:t>
            </a:r>
            <a:r>
              <a:rPr u="sng">
                <a:hlinkClick r:id="rId6" invalidUrl="" action="" tgtFrame="" tooltip="" history="1" highlightClick="0" endSnd="0"/>
              </a:rPr>
              <a:t>https://doi.org/10.1016/j.ribaf.2025.102768</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References"/>
          <p:cNvSpPr txBox="1"/>
          <p:nvPr>
            <p:ph type="title"/>
          </p:nvPr>
        </p:nvSpPr>
        <p:spPr>
          <a:prstGeom prst="rect">
            <a:avLst/>
          </a:prstGeom>
        </p:spPr>
        <p:txBody>
          <a:bodyPr/>
          <a:lstStyle/>
          <a:p>
            <a:pPr/>
            <a:r>
              <a:t>References</a:t>
            </a:r>
          </a:p>
        </p:txBody>
      </p:sp>
      <p:sp>
        <p:nvSpPr>
          <p:cNvPr id="249" name="Slide Subtitle"/>
          <p:cNvSpPr txBox="1"/>
          <p:nvPr>
            <p:ph type="body" idx="21"/>
          </p:nvPr>
        </p:nvSpPr>
        <p:spPr>
          <a:prstGeom prst="rect">
            <a:avLst/>
          </a:prstGeom>
        </p:spPr>
        <p:txBody>
          <a:bodyPr/>
          <a:lstStyle/>
          <a:p>
            <a:pPr/>
          </a:p>
        </p:txBody>
      </p:sp>
      <p:sp>
        <p:nvSpPr>
          <p:cNvPr id="250" name="Magoutas, A. I., Chaideftou, M., Skandali, D., &amp; Chountalas, P. T. (2024). Digital Progression and Economic Growth: Analyzing the Impact of ICT Advancements on the GDP of European Union Countries. Economies, 12(3), 63. https://doi.org/10.3390/economies12"/>
          <p:cNvSpPr txBox="1"/>
          <p:nvPr>
            <p:ph type="body" idx="1"/>
          </p:nvPr>
        </p:nvSpPr>
        <p:spPr>
          <a:prstGeom prst="rect">
            <a:avLst/>
          </a:prstGeom>
        </p:spPr>
        <p:txBody>
          <a:bodyPr/>
          <a:lstStyle/>
          <a:p>
            <a:pPr marL="451104" indent="-451104" defTabSz="1804370">
              <a:spcBef>
                <a:spcPts val="3300"/>
              </a:spcBef>
              <a:defRPr sz="3552">
                <a:latin typeface="Times Roman"/>
                <a:ea typeface="Times Roman"/>
                <a:cs typeface="Times Roman"/>
                <a:sym typeface="Times Roman"/>
              </a:defRPr>
            </a:pPr>
            <a:r>
              <a:t> Magoutas, A. I., Chaideftou, M., Skandali, D., &amp; Chountalas, P. T. (2024). Digital Progression and Economic Growth: Analyzing the Impact of ICT Advancements on the GDP of European Union Countries. </a:t>
            </a:r>
            <a:r>
              <a:rPr i="1"/>
              <a:t>Economies</a:t>
            </a:r>
            <a:r>
              <a:t>, </a:t>
            </a:r>
            <a:r>
              <a:rPr i="1"/>
              <a:t>12</a:t>
            </a:r>
            <a:r>
              <a:t>(3), 63. </a:t>
            </a:r>
            <a:r>
              <a:rPr u="sng">
                <a:hlinkClick r:id="rId2" invalidUrl="" action="" tgtFrame="" tooltip="" history="1" highlightClick="0" endSnd="0"/>
              </a:rPr>
              <a:t>https://doi.org/10.3390/economies12030063</a:t>
            </a:r>
          </a:p>
          <a:p>
            <a:pPr marL="451104" indent="-451104" defTabSz="1804370">
              <a:spcBef>
                <a:spcPts val="3300"/>
              </a:spcBef>
              <a:defRPr sz="3552">
                <a:latin typeface="Times Roman"/>
                <a:ea typeface="Times Roman"/>
                <a:cs typeface="Times Roman"/>
                <a:sym typeface="Times Roman"/>
              </a:defRPr>
            </a:pPr>
            <a:r>
              <a:t> Edquist, H., Goodridge, P., &amp; Haskel, J. (2021). The Economic Impact of Streaming beyond GDP. </a:t>
            </a:r>
            <a:r>
              <a:rPr i="1"/>
              <a:t>Applied Economics Letters</a:t>
            </a:r>
            <a:r>
              <a:t>, </a:t>
            </a:r>
            <a:r>
              <a:rPr i="1"/>
              <a:t>29</a:t>
            </a:r>
            <a:r>
              <a:t>(5), 1–6. </a:t>
            </a:r>
            <a:r>
              <a:rPr u="sng">
                <a:hlinkClick r:id="rId3" invalidUrl="" action="" tgtFrame="" tooltip="" history="1" highlightClick="0" endSnd="0"/>
              </a:rPr>
              <a:t>https://doi.org/10.1080/13504851.2020.1869158</a:t>
            </a:r>
          </a:p>
          <a:p>
            <a:pPr marL="451104" indent="-451104" defTabSz="1804370">
              <a:spcBef>
                <a:spcPts val="3300"/>
              </a:spcBef>
              <a:defRPr sz="3552">
                <a:latin typeface="Times Roman"/>
                <a:ea typeface="Times Roman"/>
                <a:cs typeface="Times Roman"/>
                <a:sym typeface="Times Roman"/>
              </a:defRPr>
            </a:pPr>
            <a:r>
              <a:t> Guarino, I., Montieri, A., Ciuonzo, D., &amp; Pescapè, A. (2025). Explainable Predictive Analysis of the Economic and Financial Performance of Italian Publicly Owned Companies. </a:t>
            </a:r>
            <a:r>
              <a:rPr i="1"/>
              <a:t>2025 International Conference on Artificial Intelligence in Information and Communication (ICAIIC)</a:t>
            </a:r>
            <a:r>
              <a:t>, 0087–0092. </a:t>
            </a:r>
            <a:r>
              <a:rPr u="sng">
                <a:hlinkClick r:id="rId4" invalidUrl="" action="" tgtFrame="" tooltip="" history="1" highlightClick="0" endSnd="0"/>
              </a:rPr>
              <a:t>https://doi.org/10.1109/icaiic64266.2025.10920689</a:t>
            </a:r>
          </a:p>
          <a:p>
            <a:pPr marL="451104" indent="-451104" defTabSz="1804370">
              <a:spcBef>
                <a:spcPts val="3300"/>
              </a:spcBef>
              <a:defRPr sz="3552">
                <a:latin typeface="Times Roman"/>
                <a:ea typeface="Times Roman"/>
                <a:cs typeface="Times Roman"/>
                <a:sym typeface="Times Roman"/>
              </a:defRPr>
            </a:pPr>
            <a:r>
              <a:t> Vasenska, I. (2025). Comparative Analysis of Machine Learning and Deep Learning Models for Tourism Demand Forecasting with Economic Indicators. </a:t>
            </a:r>
            <a:r>
              <a:rPr i="1"/>
              <a:t>FinTech</a:t>
            </a:r>
            <a:r>
              <a:t>, </a:t>
            </a:r>
            <a:r>
              <a:rPr i="1"/>
              <a:t>4</a:t>
            </a:r>
            <a:r>
              <a:t>(3), 46. https://doi.org/10.3390/fintech4030046</a:t>
            </a:r>
          </a:p>
          <a:p>
            <a:pPr marL="451104" indent="-451104" defTabSz="1804370">
              <a:spcBef>
                <a:spcPts val="3300"/>
              </a:spcBef>
              <a:defRPr sz="3552">
                <a:latin typeface="Times Roman"/>
                <a:ea typeface="Times Roman"/>
                <a:cs typeface="Times Roman"/>
                <a:sym typeface="Times Roman"/>
              </a:defRPr>
            </a:pPr>
            <a:r>
              <a:t> Richardson, A., van Florenstein Mulder, T., &amp; Vehbi, T. (2020). Nowcasting GDP using machine-learning algorithms: A real-time assessment. </a:t>
            </a:r>
            <a:r>
              <a:rPr i="1"/>
              <a:t>International Journal of Forecasting</a:t>
            </a:r>
            <a:r>
              <a:t>. https://doi.org/10.1016/j.ijforecast.2020.10.005</a:t>
            </a:r>
          </a:p>
          <a:p>
            <a:pPr marL="0" indent="0" defTabSz="338327">
              <a:lnSpc>
                <a:spcPct val="100000"/>
              </a:lnSpc>
              <a:spcBef>
                <a:spcPts val="1100"/>
              </a:spcBef>
              <a:buSzTx/>
              <a:buNone/>
              <a:defRPr sz="1184">
                <a:solidFill>
                  <a:srgbClr val="2C3E50"/>
                </a:solidFill>
                <a:latin typeface="Times Roman"/>
                <a:ea typeface="Times Roman"/>
                <a:cs typeface="Times Roman"/>
                <a:sym typeface="Times Roman"/>
              </a:defRPr>
            </a:pPr>
            <a:r>
              <a:t>‌</a:t>
            </a:r>
          </a:p>
          <a:p>
            <a:pPr marL="0" indent="0" defTabSz="338327">
              <a:lnSpc>
                <a:spcPct val="100000"/>
              </a:lnSpc>
              <a:spcBef>
                <a:spcPts val="1100"/>
              </a:spcBef>
              <a:buSzTx/>
              <a:buNone/>
              <a:defRPr sz="1184">
                <a:solidFill>
                  <a:srgbClr val="2C3E50"/>
                </a:solidFill>
                <a:latin typeface="Times Roman"/>
                <a:ea typeface="Times Roman"/>
                <a:cs typeface="Times Roman"/>
                <a:sym typeface="Times Roman"/>
              </a:defRPr>
            </a:pPr>
            <a:r>
              <a: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References"/>
          <p:cNvSpPr txBox="1"/>
          <p:nvPr>
            <p:ph type="title"/>
          </p:nvPr>
        </p:nvSpPr>
        <p:spPr>
          <a:prstGeom prst="rect">
            <a:avLst/>
          </a:prstGeom>
        </p:spPr>
        <p:txBody>
          <a:bodyPr/>
          <a:lstStyle/>
          <a:p>
            <a:pPr/>
            <a:r>
              <a:t>References</a:t>
            </a:r>
          </a:p>
        </p:txBody>
      </p:sp>
      <p:sp>
        <p:nvSpPr>
          <p:cNvPr id="253" name="Slide Subtitle"/>
          <p:cNvSpPr txBox="1"/>
          <p:nvPr>
            <p:ph type="body" idx="21"/>
          </p:nvPr>
        </p:nvSpPr>
        <p:spPr>
          <a:prstGeom prst="rect">
            <a:avLst/>
          </a:prstGeom>
        </p:spPr>
        <p:txBody>
          <a:bodyPr/>
          <a:lstStyle/>
          <a:p>
            <a:pPr/>
          </a:p>
        </p:txBody>
      </p:sp>
      <p:sp>
        <p:nvSpPr>
          <p:cNvPr id="254" name="Urrea, C., &amp; Kern, J. (2025). Recent Advances and Challenges in Industrial Robotics: A Systematic Review of Technological Trends and Emerging Applications. Processes, 13(3), 832. https://doi.org/10.3390/pr13030832…"/>
          <p:cNvSpPr txBox="1"/>
          <p:nvPr>
            <p:ph type="body" idx="1"/>
          </p:nvPr>
        </p:nvSpPr>
        <p:spPr>
          <a:prstGeom prst="rect">
            <a:avLst/>
          </a:prstGeom>
        </p:spPr>
        <p:txBody>
          <a:bodyPr/>
          <a:lstStyle/>
          <a:p>
            <a:pPr/>
            <a:r>
              <a:t> Urrea, C., &amp; Kern, J. (2025). Recent Advances and Challenges in Industrial Robotics: A Systematic Review of Technological Trends and Emerging Applications. </a:t>
            </a:r>
            <a:r>
              <a:rPr i="1"/>
              <a:t>Processes</a:t>
            </a:r>
            <a:r>
              <a:t>, </a:t>
            </a:r>
            <a:r>
              <a:rPr i="1"/>
              <a:t>13</a:t>
            </a:r>
            <a:r>
              <a:t>(3), 832. </a:t>
            </a:r>
            <a:r>
              <a:rPr u="sng">
                <a:hlinkClick r:id="rId2" invalidUrl="" action="" tgtFrame="" tooltip="" history="1" highlightClick="0" endSnd="0"/>
              </a:rPr>
              <a:t>https://doi.org/10.3390/pr13030832</a:t>
            </a:r>
          </a:p>
          <a:p>
            <a:pPr/>
            <a:r>
              <a:t> Obosu, M., &amp; Frimpong, S. (2025). Advances in Automation and Robotics: The State of the Emerging Future Mining Industry. </a:t>
            </a:r>
            <a:r>
              <a:rPr i="1"/>
              <a:t>Journal of Safety and Sustainability</a:t>
            </a:r>
            <a:r>
              <a:t>. </a:t>
            </a:r>
            <a:r>
              <a:rPr u="sng">
                <a:hlinkClick r:id="rId3" invalidUrl="" action="" tgtFrame="" tooltip="" history="1" highlightClick="0" endSnd="0"/>
              </a:rPr>
              <a:t>https://doi.org/10.1016/j.jsasus.2025.05.003</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0_BasicColor">
  <a:themeElements>
    <a:clrScheme name="30_BasicColor">
      <a:dk1>
        <a:srgbClr val="000000"/>
      </a:dk1>
      <a:lt1>
        <a:srgbClr val="003462"/>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0_BasicColor">
  <a:themeElements>
    <a:clrScheme name="30_Bas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